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801600" cy="6400800"/>
  <p:notesSz cx="6400800" cy="1280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6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44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3657600" y="494211"/>
            <a:ext cx="2697480" cy="5349240"/>
          </a:xfrm>
          <a:prstGeom prst="roundRect">
            <a:avLst>
              <a:gd name="adj" fmla="val 2712"/>
            </a:avLst>
          </a:prstGeom>
          <a:solidFill>
            <a:srgbClr val="F3FAF5"/>
          </a:solidFill>
          <a:ln w="27940">
            <a:solidFill>
              <a:srgbClr val="16713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13632" y="1344603"/>
            <a:ext cx="2176272" cy="1691640"/>
          </a:xfrm>
          <a:prstGeom prst="rect">
            <a:avLst/>
          </a:prstGeom>
          <a:solidFill>
            <a:srgbClr val="FFFFFF">
              <a:alpha val="80000"/>
            </a:srgbClr>
          </a:solidFill>
          <a:ln w="15240">
            <a:solidFill>
              <a:srgbClr val="16713B"/>
            </a:solidFill>
            <a:prstDash val="solid"/>
          </a:ln>
        </p:spPr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EA3F7C45-050F-44F0-809E-D822245CC558}"/>
              </a:ext>
            </a:extLst>
          </p:cNvPr>
          <p:cNvSpPr/>
          <p:nvPr/>
        </p:nvSpPr>
        <p:spPr>
          <a:xfrm>
            <a:off x="4518876" y="1761117"/>
            <a:ext cx="886968" cy="885173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3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3401568" y="2926080"/>
            <a:ext cx="23774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6355080" y="292608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9125712" y="2926080"/>
            <a:ext cx="228600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1658600" y="6163056"/>
            <a:ext cx="0" cy="0"/>
          </a:xfrm>
          <a:prstGeom prst="line">
            <a:avLst/>
          </a:prstGeom>
          <a:noFill/>
          <a:ln w="15240">
            <a:solidFill>
              <a:srgbClr val="808080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4741821" y="5994984"/>
            <a:ext cx="34747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 ŷ = A x̂  (round-trip consistency)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502920"/>
            <a:ext cx="3063240" cy="5349240"/>
          </a:xfrm>
          <a:prstGeom prst="roundRect">
            <a:avLst>
              <a:gd name="adj" fmla="val 2388"/>
            </a:avLst>
          </a:prstGeom>
          <a:solidFill>
            <a:srgbClr val="F4F8FC"/>
          </a:solidFill>
          <a:ln w="27940">
            <a:solidFill>
              <a:srgbClr val="1F6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667512"/>
            <a:ext cx="284378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6AA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Input observation  y ∈ ℝᴺ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767328" y="667512"/>
            <a:ext cx="247802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71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Dual-normalized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6713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operators  A, B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01968" y="502920"/>
            <a:ext cx="2514600" cy="5349240"/>
          </a:xfrm>
          <a:prstGeom prst="roundRect">
            <a:avLst>
              <a:gd name="adj" fmla="val 2909"/>
            </a:avLst>
          </a:prstGeom>
          <a:solidFill>
            <a:srgbClr val="FAF6FB"/>
          </a:solidFill>
          <a:ln w="27940">
            <a:solidFill>
              <a:srgbClr val="6C2B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11696" y="667512"/>
            <a:ext cx="229514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2B7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Damped residual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6C2B7C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correction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372600" y="502920"/>
            <a:ext cx="3063240" cy="5349240"/>
          </a:xfrm>
          <a:prstGeom prst="roundRect">
            <a:avLst>
              <a:gd name="adj" fmla="val 2388"/>
            </a:avLst>
          </a:prstGeom>
          <a:solidFill>
            <a:srgbClr val="FFF6F7"/>
          </a:solidFill>
          <a:ln w="27940">
            <a:solidFill>
              <a:srgbClr val="B51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667512"/>
            <a:ext cx="2843784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163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HEALPix field  x̂ ∈ ℝᴹ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63040" y="1993392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← </a:t>
            </a:r>
            <a:r>
              <a:rPr lang="en-US" sz="1600" dirty="0" err="1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sz="1600" baseline="-25000" dirty="0" err="1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UTM</a:t>
            </a:r>
            <a:r>
              <a:rPr lang="en-US" sz="1600" baseline="-2500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105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→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" y="2304288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" y="2304288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9576" y="2304288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58468" y="2304288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2304288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6252" y="2304288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5144" y="2304288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74036" y="2304288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2583180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" y="2583180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9576" y="2583180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58468" y="2583180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37360" y="2583180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16252" y="2583180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95144" y="2583180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4036" y="2583180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2862072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" y="2862072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79576" y="2862072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58468" y="2862072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7360" y="2862072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16252" y="2862072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95144" y="2862072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74036" y="2862072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" y="3140964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0684" y="3140964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79576" y="3140964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58468" y="3140964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37360" y="3140964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16252" y="3140964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95144" y="3140964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74036" y="3140964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" y="3419856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" y="3419856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79576" y="3419856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458468" y="3419856"/>
            <a:ext cx="278892" cy="278892"/>
          </a:xfrm>
          <a:prstGeom prst="rect">
            <a:avLst/>
          </a:prstGeom>
          <a:solidFill>
            <a:srgbClr val="FFFFFF">
              <a:alpha val="6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37360" y="3419856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16252" y="3419856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295144" y="3419856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574036" y="3419856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3698748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0684" y="3698748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79576" y="3698748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458468" y="3698748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737360" y="3698748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016252" y="3698748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295144" y="3698748"/>
            <a:ext cx="278892" cy="278892"/>
          </a:xfrm>
          <a:prstGeom prst="rect">
            <a:avLst/>
          </a:prstGeom>
          <a:solidFill>
            <a:srgbClr val="FFF0A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574036" y="3698748"/>
            <a:ext cx="278892" cy="278892"/>
          </a:xfrm>
          <a:prstGeom prst="rect">
            <a:avLst/>
          </a:prstGeom>
          <a:solidFill>
            <a:srgbClr val="FD9A3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" y="3977640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0684" y="3977640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79576" y="3977640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58468" y="3977640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737360" y="3977640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16252" y="3977640"/>
            <a:ext cx="278892" cy="278892"/>
          </a:xfrm>
          <a:prstGeom prst="rect">
            <a:avLst/>
          </a:prstGeom>
          <a:solidFill>
            <a:srgbClr val="ED7E21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95144" y="3977640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574036" y="3977640"/>
            <a:ext cx="278892" cy="278892"/>
          </a:xfrm>
          <a:prstGeom prst="rect">
            <a:avLst/>
          </a:prstGeom>
          <a:solidFill>
            <a:srgbClr val="FDD77A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" y="4256532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0684" y="4256532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79576" y="4256532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458468" y="4256532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37360" y="4256532"/>
            <a:ext cx="278892" cy="278892"/>
          </a:xfrm>
          <a:prstGeom prst="rect">
            <a:avLst/>
          </a:prstGeom>
          <a:solidFill>
            <a:srgbClr val="FDBB55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16252" y="4256532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95144" y="4256532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74036" y="4256532"/>
            <a:ext cx="278892" cy="278892"/>
          </a:xfrm>
          <a:prstGeom prst="rect">
            <a:avLst/>
          </a:prstGeom>
          <a:solidFill>
            <a:srgbClr val="D7620F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1792" y="2304288"/>
            <a:ext cx="2231136" cy="2231136"/>
          </a:xfrm>
          <a:prstGeom prst="rect">
            <a:avLst/>
          </a:prstGeom>
          <a:solidFill>
            <a:srgbClr val="FFFFFF">
              <a:alpha val="0"/>
            </a:srgbClr>
          </a:solidFill>
          <a:ln w="20320">
            <a:solidFill>
              <a:srgbClr val="1F6AA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2960" y="4681728"/>
            <a:ext cx="20116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F4F4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Sentinel-2 UTM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4F4F4F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10 m pixels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349934" y="1894983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90288" y="2103108"/>
            <a:ext cx="155448" cy="155448"/>
          </a:xfrm>
          <a:prstGeom prst="ellipse">
            <a:avLst/>
          </a:prstGeom>
          <a:solidFill>
            <a:srgbClr val="CE174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42977" y="1579737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870266" y="1859281"/>
            <a:ext cx="155448" cy="155448"/>
          </a:xfrm>
          <a:prstGeom prst="ellipse">
            <a:avLst/>
          </a:prstGeom>
          <a:solidFill>
            <a:srgbClr val="CE174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12801" y="1580602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616415" y="2602995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49675" y="2324316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73168" y="2021259"/>
            <a:ext cx="384048" cy="384048"/>
          </a:xfrm>
          <a:prstGeom prst="rect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003767" y="3814349"/>
            <a:ext cx="155448" cy="155448"/>
          </a:xfrm>
          <a:prstGeom prst="ellipse">
            <a:avLst/>
          </a:prstGeom>
          <a:solidFill>
            <a:srgbClr val="CE174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275478" y="3778213"/>
            <a:ext cx="2013928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HEALPix cell-average xⱼ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4003767" y="4167920"/>
            <a:ext cx="164592" cy="164592"/>
          </a:xfrm>
          <a:prstGeom prst="rect">
            <a:avLst/>
          </a:prstGeom>
          <a:solidFill>
            <a:srgbClr val="2B73B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75901" y="4113491"/>
            <a:ext cx="146739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UTM pixel  yᵢ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3886200" y="4483170"/>
            <a:ext cx="228600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gᵢⱼ = exp(−2dᵢⱼ² / sₚₛf²)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3886200" y="4730058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Aᵢⱼ = gᵢⱼ / Σₖ∈𝓝(i) gᵢₖ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3886200" y="4976946"/>
            <a:ext cx="2286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Bⱼᵢ = gᵢⱼ / Σℓ:j∈𝓝(ℓ) gℓⱼ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3886200" y="5431536"/>
            <a:ext cx="22860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713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A: </a:t>
            </a:r>
            <a:r>
              <a:rPr lang="en-US" sz="1600" b="1" dirty="0" err="1">
                <a:solidFill>
                  <a:srgbClr val="16713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HEALPix→UTM</a:t>
            </a:r>
            <a:r>
              <a:rPr lang="en-US" sz="1600" b="1" dirty="0">
                <a:solidFill>
                  <a:srgbClr val="16713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   </a:t>
            </a:r>
          </a:p>
          <a:p>
            <a:pPr marL="0" indent="0" algn="ctr">
              <a:buNone/>
            </a:pPr>
            <a:r>
              <a:rPr lang="en-US" sz="1600" b="1" dirty="0">
                <a:solidFill>
                  <a:srgbClr val="16713B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B: UTM→HEALPix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6903720" y="2048256"/>
            <a:ext cx="1920240" cy="0"/>
          </a:xfrm>
          <a:prstGeom prst="line">
            <a:avLst/>
          </a:prstGeom>
          <a:noFill/>
          <a:ln w="15240">
            <a:solidFill>
              <a:srgbClr val="B8A6B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903720" y="3327976"/>
            <a:ext cx="1920240" cy="0"/>
          </a:xfrm>
          <a:prstGeom prst="line">
            <a:avLst/>
          </a:prstGeom>
          <a:noFill/>
          <a:ln w="15240">
            <a:solidFill>
              <a:srgbClr val="B8A6B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31152" y="3523923"/>
            <a:ext cx="1874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sparse transfer operators with a matrix-free composite solve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7077456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mbria Math" pitchFamily="34" charset="-120"/>
              </a:rPr>
              <a:t>O(qN) per iteration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8" name="Text 106"/>
          <p:cNvSpPr/>
          <p:nvPr/>
        </p:nvSpPr>
        <p:spPr>
          <a:xfrm>
            <a:off x="7059168" y="4407408"/>
            <a:ext cx="1627632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D</a:t>
            </a:r>
            <a:r>
              <a:rPr lang="en-US" sz="1400" baseline="-25000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x</a:t>
            </a:r>
            <a:r>
              <a:rPr lang="en-US" sz="1400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-weighted CG;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BA never assembled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6967728" y="4773168"/>
            <a:ext cx="18105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2B7C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damping acts on correction δ</a:t>
            </a:r>
            <a:endParaRPr lang="en-US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14" name="Shape 112"/>
          <p:cNvSpPr/>
          <p:nvPr/>
        </p:nvSpPr>
        <p:spPr>
          <a:xfrm rot="2560566">
            <a:off x="11267562" y="2417903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2560566">
            <a:off x="11453603" y="2589433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2560566">
            <a:off x="11639643" y="276096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2560566">
            <a:off x="10922735" y="2418593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2560566">
            <a:off x="11108775" y="2590123"/>
            <a:ext cx="253048" cy="234250"/>
          </a:xfrm>
          <a:prstGeom prst="rect">
            <a:avLst/>
          </a:prstGeom>
          <a:solidFill>
            <a:srgbClr val="F073A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rot="2560566">
            <a:off x="11294816" y="276165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2560566">
            <a:off x="11480856" y="2933182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2560566">
            <a:off x="11666897" y="3104712"/>
            <a:ext cx="253048" cy="234250"/>
          </a:xfrm>
          <a:prstGeom prst="rect">
            <a:avLst/>
          </a:prstGeom>
          <a:solidFill>
            <a:srgbClr val="F8CCD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rot="2560566">
            <a:off x="10577907" y="2419283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rot="2560566">
            <a:off x="10763948" y="2590813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rot="2560566">
            <a:off x="10949988" y="2762343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rot="2560566">
            <a:off x="11136029" y="2933872"/>
            <a:ext cx="253048" cy="234250"/>
          </a:xfrm>
          <a:prstGeom prst="rect">
            <a:avLst/>
          </a:prstGeom>
          <a:solidFill>
            <a:srgbClr val="F073A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rot="2560566">
            <a:off x="11322069" y="3105402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2560566">
            <a:off x="11508110" y="3276931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2560566">
            <a:off x="11694150" y="3448461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2560566">
            <a:off x="10233079" y="2419973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2560566">
            <a:off x="10419120" y="2591503"/>
            <a:ext cx="253048" cy="234250"/>
          </a:xfrm>
          <a:prstGeom prst="rect">
            <a:avLst/>
          </a:prstGeom>
          <a:solidFill>
            <a:srgbClr val="F8CCD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2560566">
            <a:off x="10605161" y="2763033"/>
            <a:ext cx="253048" cy="234250"/>
          </a:xfrm>
          <a:prstGeom prst="rect">
            <a:avLst/>
          </a:prstGeom>
          <a:solidFill>
            <a:srgbClr val="F8CCD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2560566">
            <a:off x="10791202" y="293456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2560566">
            <a:off x="10977242" y="310609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2560566">
            <a:off x="11163283" y="327762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2560566">
            <a:off x="11349323" y="3449151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2560566">
            <a:off x="11535364" y="3620681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2560566">
            <a:off x="10074293" y="2592193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2560566">
            <a:off x="10260334" y="2763723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560566">
            <a:off x="10446374" y="2935253"/>
            <a:ext cx="253048" cy="234250"/>
          </a:xfrm>
          <a:prstGeom prst="rect">
            <a:avLst/>
          </a:prstGeom>
          <a:solidFill>
            <a:srgbClr val="F8CCD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2560566">
            <a:off x="10632415" y="3106782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2560566">
            <a:off x="10818455" y="3278312"/>
            <a:ext cx="253048" cy="234250"/>
          </a:xfrm>
          <a:prstGeom prst="rect">
            <a:avLst/>
          </a:prstGeom>
          <a:solidFill>
            <a:srgbClr val="F073A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2560566">
            <a:off x="11004496" y="3449841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2560566">
            <a:off x="11190536" y="3621371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2560566">
            <a:off x="11376577" y="3792901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2560566">
            <a:off x="9915506" y="2764413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2560566">
            <a:off x="10101547" y="2935943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2560566">
            <a:off x="10287587" y="3107472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560566">
            <a:off x="10473628" y="3279002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2560566">
            <a:off x="10659668" y="3450532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2560566">
            <a:off x="10845709" y="3622061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2560566">
            <a:off x="11031749" y="3793591"/>
            <a:ext cx="253048" cy="234250"/>
          </a:xfrm>
          <a:prstGeom prst="rect">
            <a:avLst/>
          </a:prstGeom>
          <a:solidFill>
            <a:srgbClr val="E44388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2560566">
            <a:off x="9942760" y="3108163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2560566">
            <a:off x="10128800" y="3279692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2560566">
            <a:off x="10314841" y="3451222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2560566">
            <a:off x="10500881" y="3622751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2560566">
            <a:off x="10686922" y="3794281"/>
            <a:ext cx="253048" cy="234250"/>
          </a:xfrm>
          <a:prstGeom prst="rect">
            <a:avLst/>
          </a:prstGeom>
          <a:solidFill>
            <a:srgbClr val="B00762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2560566">
            <a:off x="9970013" y="3451912"/>
            <a:ext cx="253048" cy="234250"/>
          </a:xfrm>
          <a:prstGeom prst="rect">
            <a:avLst/>
          </a:prstGeom>
          <a:solidFill>
            <a:srgbClr val="F4A3B7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2560566">
            <a:off x="10156054" y="3623442"/>
            <a:ext cx="253048" cy="234250"/>
          </a:xfrm>
          <a:prstGeom prst="rect">
            <a:avLst/>
          </a:prstGeom>
          <a:solidFill>
            <a:srgbClr val="F8CCD6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2560566">
            <a:off x="10342094" y="3794971"/>
            <a:ext cx="253048" cy="234250"/>
          </a:xfrm>
          <a:prstGeom prst="rect">
            <a:avLst/>
          </a:prstGeom>
          <a:solidFill>
            <a:srgbClr val="C51C70"/>
          </a:solidFill>
          <a:ln w="889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537192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F4F4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Equal-area cells ·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4F4F4F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Level = 20 · ≈ 6.2 m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77" name="Text 175"/>
          <p:cNvSpPr/>
          <p:nvPr/>
        </p:nvSpPr>
        <p:spPr>
          <a:xfrm>
            <a:off x="9791236" y="5111061"/>
            <a:ext cx="2313675" cy="290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163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ptos" pitchFamily="34" charset="-120"/>
              </a:rPr>
              <a:t>stored as cell ids + values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4809744" y="2066979"/>
            <a:ext cx="310896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yᵢ</a:t>
            </a:r>
            <a:endParaRPr lang="en-US" sz="1200" dirty="0"/>
          </a:p>
        </p:txBody>
      </p:sp>
      <p:sp>
        <p:nvSpPr>
          <p:cNvPr id="180" name="Shape 83">
            <a:extLst>
              <a:ext uri="{FF2B5EF4-FFF2-40B4-BE49-F238E27FC236}">
                <a16:creationId xmlns:a16="http://schemas.microsoft.com/office/drawing/2014/main" id="{7ABB6F85-E71E-4A48-AF1F-9AC4CE7802B3}"/>
              </a:ext>
            </a:extLst>
          </p:cNvPr>
          <p:cNvSpPr/>
          <p:nvPr/>
        </p:nvSpPr>
        <p:spPr>
          <a:xfrm>
            <a:off x="4838484" y="2342594"/>
            <a:ext cx="155448" cy="155448"/>
          </a:xfrm>
          <a:prstGeom prst="ellipse">
            <a:avLst/>
          </a:prstGeom>
          <a:solidFill>
            <a:srgbClr val="CE174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1" name="Shape 83">
            <a:extLst>
              <a:ext uri="{FF2B5EF4-FFF2-40B4-BE49-F238E27FC236}">
                <a16:creationId xmlns:a16="http://schemas.microsoft.com/office/drawing/2014/main" id="{E4BF5AA3-6AD2-442D-9617-9B95CB189890}"/>
              </a:ext>
            </a:extLst>
          </p:cNvPr>
          <p:cNvSpPr/>
          <p:nvPr/>
        </p:nvSpPr>
        <p:spPr>
          <a:xfrm>
            <a:off x="5095389" y="2103109"/>
            <a:ext cx="155448" cy="155448"/>
          </a:xfrm>
          <a:prstGeom prst="ellipse">
            <a:avLst/>
          </a:prstGeom>
          <a:solidFill>
            <a:srgbClr val="CE1742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2" name="Shape 86">
            <a:extLst>
              <a:ext uri="{FF2B5EF4-FFF2-40B4-BE49-F238E27FC236}">
                <a16:creationId xmlns:a16="http://schemas.microsoft.com/office/drawing/2014/main" id="{54DEE2CE-AFBF-4466-8853-265CC2F288C5}"/>
              </a:ext>
            </a:extLst>
          </p:cNvPr>
          <p:cNvSpPr/>
          <p:nvPr/>
        </p:nvSpPr>
        <p:spPr>
          <a:xfrm>
            <a:off x="5352290" y="1863637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3" name="Shape 88">
            <a:extLst>
              <a:ext uri="{FF2B5EF4-FFF2-40B4-BE49-F238E27FC236}">
                <a16:creationId xmlns:a16="http://schemas.microsoft.com/office/drawing/2014/main" id="{3FE46527-1792-4D31-BADD-C8A0BF7B8B2E}"/>
              </a:ext>
            </a:extLst>
          </p:cNvPr>
          <p:cNvSpPr/>
          <p:nvPr/>
        </p:nvSpPr>
        <p:spPr>
          <a:xfrm>
            <a:off x="5101481" y="2598637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4" name="Shape 87">
            <a:extLst>
              <a:ext uri="{FF2B5EF4-FFF2-40B4-BE49-F238E27FC236}">
                <a16:creationId xmlns:a16="http://schemas.microsoft.com/office/drawing/2014/main" id="{90E19136-9B07-440C-B880-6766CD96C2B3}"/>
              </a:ext>
            </a:extLst>
          </p:cNvPr>
          <p:cNvSpPr/>
          <p:nvPr/>
        </p:nvSpPr>
        <p:spPr>
          <a:xfrm>
            <a:off x="4368219" y="2293834"/>
            <a:ext cx="155448" cy="155448"/>
          </a:xfrm>
          <a:prstGeom prst="ellipse">
            <a:avLst/>
          </a:prstGeom>
          <a:solidFill>
            <a:srgbClr val="C87579">
              <a:alpha val="80000"/>
            </a:srgbClr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85" name="Ellipse 184">
            <a:extLst>
              <a:ext uri="{FF2B5EF4-FFF2-40B4-BE49-F238E27FC236}">
                <a16:creationId xmlns:a16="http://schemas.microsoft.com/office/drawing/2014/main" id="{B0BBC5BC-BF2A-46FF-9A51-C29215E56796}"/>
              </a:ext>
            </a:extLst>
          </p:cNvPr>
          <p:cNvSpPr/>
          <p:nvPr/>
        </p:nvSpPr>
        <p:spPr>
          <a:xfrm>
            <a:off x="3862687" y="3226189"/>
            <a:ext cx="443484" cy="475488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73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Text 92">
            <a:extLst>
              <a:ext uri="{FF2B5EF4-FFF2-40B4-BE49-F238E27FC236}">
                <a16:creationId xmlns:a16="http://schemas.microsoft.com/office/drawing/2014/main" id="{A62B4677-712B-44E0-B4DF-14E252EFDF36}"/>
              </a:ext>
            </a:extLst>
          </p:cNvPr>
          <p:cNvSpPr/>
          <p:nvPr/>
        </p:nvSpPr>
        <p:spPr>
          <a:xfrm>
            <a:off x="4384770" y="3356065"/>
            <a:ext cx="146739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55555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PSF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Text 13">
            <a:extLst>
              <a:ext uri="{FF2B5EF4-FFF2-40B4-BE49-F238E27FC236}">
                <a16:creationId xmlns:a16="http://schemas.microsoft.com/office/drawing/2014/main" id="{3135A58D-5598-48C8-B720-63B22A08826D}"/>
              </a:ext>
            </a:extLst>
          </p:cNvPr>
          <p:cNvSpPr/>
          <p:nvPr/>
        </p:nvSpPr>
        <p:spPr>
          <a:xfrm rot="16200000">
            <a:off x="-15644" y="3266694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← Y</a:t>
            </a:r>
            <a:r>
              <a:rPr lang="en-US" sz="1600" baseline="-2500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UTM </a:t>
            </a:r>
            <a:r>
              <a:rPr lang="en-US" sz="1050" dirty="0">
                <a:solidFill>
                  <a:srgbClr val="666666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→</a:t>
            </a:r>
            <a:endParaRPr lang="en-US" sz="1050" dirty="0">
              <a:latin typeface="Cambria Math" panose="02040503050406030204" pitchFamily="18" charset="0"/>
              <a:ea typeface="Cambria Math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10" name="Image 109">
            <a:extLst>
              <a:ext uri="{FF2B5EF4-FFF2-40B4-BE49-F238E27FC236}">
                <a16:creationId xmlns:a16="http://schemas.microsoft.com/office/drawing/2014/main" id="{C69AC4C8-4702-4301-AD47-8B9BCFBC72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31973" y="1530486"/>
            <a:ext cx="997155" cy="379868"/>
          </a:xfrm>
          <a:prstGeom prst="rect">
            <a:avLst/>
          </a:prstGeom>
        </p:spPr>
      </p:pic>
      <p:pic>
        <p:nvPicPr>
          <p:cNvPr id="112" name="Image 111">
            <a:extLst>
              <a:ext uri="{FF2B5EF4-FFF2-40B4-BE49-F238E27FC236}">
                <a16:creationId xmlns:a16="http://schemas.microsoft.com/office/drawing/2014/main" id="{55CF9E6C-3500-473D-839A-58A2F880C3D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7971" y="2198914"/>
            <a:ext cx="2625160" cy="407001"/>
          </a:xfrm>
          <a:prstGeom prst="rect">
            <a:avLst/>
          </a:prstGeom>
        </p:spPr>
      </p:pic>
      <p:pic>
        <p:nvPicPr>
          <p:cNvPr id="117" name="Image 116">
            <a:extLst>
              <a:ext uri="{FF2B5EF4-FFF2-40B4-BE49-F238E27FC236}">
                <a16:creationId xmlns:a16="http://schemas.microsoft.com/office/drawing/2014/main" id="{B644805F-4496-46E2-84F8-F7D50318A02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60633" y="2738747"/>
            <a:ext cx="1180304" cy="3730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3909</TotalTime>
  <Words>136</Words>
  <Application>Microsoft Office PowerPoint</Application>
  <PresentationFormat>Personnalisé</PresentationFormat>
  <Paragraphs>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 Math</vt:lpstr>
      <vt:lpstr>Office Theme</vt:lpstr>
      <vt:lpstr>Présentation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PSF-aware HEALPix workflow</dc:title>
  <dc:subject>Editable PSF-aware HEALPix workflow diagram</dc:subject>
  <dc:creator>OpenAI</dc:creator>
  <cp:lastModifiedBy>Jean Marc DELOUIS</cp:lastModifiedBy>
  <cp:revision>17</cp:revision>
  <dcterms:created xsi:type="dcterms:W3CDTF">2026-07-21T09:38:16Z</dcterms:created>
  <dcterms:modified xsi:type="dcterms:W3CDTF">2026-09-10T06:46:19Z</dcterms:modified>
</cp:coreProperties>
</file>